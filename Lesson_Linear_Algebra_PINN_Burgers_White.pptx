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customXml" Target="../customXml/item2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5" Type="http://schemas.openxmlformats.org/officeDocument/2006/relationships/theme" Target="theme/theme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customXml" Target="../customXml/item3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might physics help a neural net generalize with little data?</a:t>
            </a:r>
          </a:p>
          <a:p>
            <a:pPr lvl="1"/>
            <a:r>
              <a:t>• Where do matrices appear in a neural network?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Motivate LA as backbone of ML; physics adds structure via constraints in the loss.</a:t>
            </a:r>
          </a:p>
          <a:p>
            <a:pPr lvl="1"/>
            <a:r>
              <a:t>• Link matrices, Jacobians, and PDE operators through a working PINN.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Every layer is y=Wx+b; gradients are matrix products; PDE residual is a linear operator on 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is a single neuron in matrix form?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Matrix multiply as a linear map; bias as translation; geometric view.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Matrix multiplication is the fundamental op in forward and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If we stack many linear layers, is the result still linear?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Show composition example; emphasize no nonlinearity yet; motivate activations.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Without activation, network reduces to a single matrix A=A2*A1.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do gradients look like in matrix form?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Link optimization to normal equations; role of J^T r.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Updates use J^T r; Newton/L-BFGS use Hessian or approximations.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phenomena do advection and diffusion represent?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Interpret u*u_x vs nu*u_xx; balance steepening and smoothing.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Differential operators are linear maps; only u*u_x is nonlinear.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choose [x,t] as inputs rather than a full grid?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Pointwise evaluation supports mesh‑free collocation.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Network is a parametric nonlinear map built from matrix multiplications.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How do stencils realize derivatives as matrices?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Show stencils; equivalence to banded matrices.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Each stencil row is a row of a sparse differentiation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might physics residuals reduce data requirements?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Residual minimization enforces PDE consistency across the domain.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Residual vector r ⇒ quadratic form r^T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problems would ReLU cause for u_xx?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ReLU second derivative zero/undefined -&gt; poor for PDE residuals.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Each layer is affine: y=Wx+b.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are tensor shapes here?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(N,in)*(out,in)^T -&gt; (N,out).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Core linear algebra 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not ReLU?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Show formulas; relate to Jacobian/Hessian.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Elementwise derivative -&gt; diagonal Jacobians.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How does backprop relate to chain rule?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Jacobian product view; extend to second derivatives.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Derivative propagation = multiplying Jacobians.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are a1_x,a1_t constant across samples?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Linear layer partials constant; activations add curvature.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Multiplying by diag(tanh'(a1)) is a Jacobian‑product.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Where does u_xx come from?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u_xx uses tanh'' and zero 2nd‑derivative of affine layers.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Matrix multiplies with diagonal Jacobians/Hessians.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does minimizing ||R||^2 enforce the PDE?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Zero residual == PDE satisfied locally.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Residual r; norm r^T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Why IC/BC terms?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PDE needs boundary/initial info.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Sum of quadratic forms; gradients add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When prefer Newton over GD?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Cost O(n^3); conditioning; line search; trust region.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GD uses J^T r; Gauss‑Newton uses (J^T J)^{-1} J^T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How does sampling affect stability?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Balance terms; curriculum or adaptive sampling if needed.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Sampling chooses which rows of the (implicit) operator we minimize.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signals tell us to stop?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Loss plateau; residual distribution; validation checks.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Dominated by matrix multiplies and dot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If physics loss ↓ but BC loss ↛ 0?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Reweight terms; resample; change lr/optimizer.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Different subproblems, different conditioning.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Effect of nu on smoothness and fronts?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Qualitative agreement with analytic/FD intuition.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Approximate inverse of differential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When is a PINN preferable?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Scarce data; irregular domains; inverse problems.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Same LA core; physics changes loss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How to detect ill‑conditioning?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Gradient issues; slow convergence; imbalance among losses.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Condition numbers govern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Which LA component was key?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Unify ML &amp; physics view.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Everything reduces to matrices, vectors, norms.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pPr>
              <a:defRPr b="1"/>
            </a:pPr>
            <a:r>
              <a:t>Student Engagement Questions</a:t>
            </a:r>
          </a:p>
          <a:p>
            <a:pPr lvl="1"/>
            <a:r>
              <a:t>• What would you try next?</a:t>
            </a:r>
          </a:p>
          <a:p>
            <a:pPr>
              <a:defRPr b="1"/>
            </a:pPr>
            <a:r>
              <a:t>Concept Explanation</a:t>
            </a:r>
          </a:p>
          <a:p>
            <a:pPr lvl="1"/>
            <a:r>
              <a:t>• Extensions to Navier–Stokes, Maxwell, heat equation.</a:t>
            </a:r>
          </a:p>
          <a:p>
            <a:pPr>
              <a:defRPr b="1"/>
            </a:pPr>
            <a:r>
              <a:t>Linear Algebra Insight</a:t>
            </a:r>
          </a:p>
          <a:p>
            <a:pPr lvl="1"/>
            <a:r>
              <a:t>• Matrix thinking scales to big models and HPC.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Linear Algebra Foundations through a Physics-Informed Neural Network (PINN) for the 1‑D Burgers Equation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Linear Algebra is the shared language of neural networks and physics.</a:t>
            </a:r>
          </a:p>
          <a:p>
            <a:pPr>
              <a:defRPr sz="2200">
                <a:latin typeface="Calibri"/>
              </a:defRPr>
            </a:pPr>
            <a:r>
              <a:t>We’ll build a tiny PINN to solve the 1‑D Burgers equation with explicit linear‑algebra steps.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What does Linear Algebra do in 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Each layer performs y = W x + b (matrix–vector product + bias).</a:t>
            </a:r>
          </a:p>
          <a:p>
            <a:pPr>
              <a:defRPr sz="2200">
                <a:latin typeface="Calibri"/>
              </a:defRPr>
            </a:pPr>
            <a:r>
              <a:t>Stacking layers = composing linear maps; backprop uses transposed matrices.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import torch
</a:t>
            </a:r>
            <a:r>
              <a:rPr sz="1600">
                <a:latin typeface="Consolas"/>
              </a:rPr>
              <a:t>W=torch.tensor([[2.,1.],[1.,3.]])
</a:t>
            </a:r>
            <a:r>
              <a:rPr sz="1600">
                <a:latin typeface="Consolas"/>
              </a:rPr>
              <a:t>x=torch.tensor([[1.],[2.]])
</a:t>
            </a:r>
            <a:r>
              <a:rPr sz="1600">
                <a:latin typeface="Consolas"/>
              </a:rPr>
              <a:t>b=torch.tensor([[0.5],[1.]])
</a:t>
            </a:r>
            <a:r>
              <a:rPr sz="1600">
                <a:latin typeface="Consolas"/>
              </a:rPr>
              <a:t>y = W @ x + b
</a:t>
            </a:r>
            <a:r>
              <a:rPr sz="1600">
                <a:latin typeface="Consolas"/>
              </a:rPr>
              <a:t>print(y)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Composing Layers and the Need for Nonlinearity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Composition of linear maps remains linear (A2(A1 x)).</a:t>
            </a:r>
          </a:p>
          <a:p>
            <a:pPr>
              <a:defRPr sz="2200">
                <a:latin typeface="Calibri"/>
              </a:defRPr>
            </a:pPr>
            <a:r>
              <a:t>We introduce nonlinearity (tanh) to model nonlinear mappings like u(x,t).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import torch
</a:t>
            </a:r>
            <a:r>
              <a:rPr sz="1600">
                <a:latin typeface="Consolas"/>
              </a:rPr>
              <a:t>A1=torch.tensor([[2.,1.],[1.,3.]])
</a:t>
            </a:r>
            <a:r>
              <a:rPr sz="1600">
                <a:latin typeface="Consolas"/>
              </a:rPr>
              <a:t>A2=torch.tensor([[1.,-1.],[0.5,0.5]])
</a:t>
            </a:r>
            <a:r>
              <a:rPr sz="1600">
                <a:latin typeface="Consolas"/>
              </a:rPr>
              <a:t>x=torch.tensor([[1.],[2.]])
</a:t>
            </a:r>
            <a:r>
              <a:rPr sz="1600">
                <a:latin typeface="Consolas"/>
              </a:rPr>
              <a:t>print(A2 @ (A1 @ x))  # still linear overall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Linear Algebra in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Training ≈ minimizing least squares: min_theta ||A(theta) x - b||^2.</a:t>
            </a:r>
          </a:p>
          <a:p>
            <a:pPr>
              <a:defRPr sz="2200">
                <a:latin typeface="Calibri"/>
              </a:defRPr>
            </a:pPr>
            <a:r>
              <a:t>Gradients &amp; Hessians are matrix objects (Jacobian J, J^T J).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Introducing the 1‑D Burgers Equation (physics)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IC u(x,0) = -sin(pi x); BC u(±1,t) = 0.</a:t>
            </a:r>
          </a:p>
          <a:p>
            <a:pPr>
              <a:defRPr sz="2200">
                <a:latin typeface="Calibri"/>
              </a:defRPr>
            </a:pPr>
            <a:r>
              <a:t>Physical meaning: advection u*u_x (nonlinear) + diffusion nu*u_xx (smoothing).</a:t>
            </a:r>
          </a:p>
        </p:txBody>
      </p:sp>
      <p:pic>
        <p:nvPicPr>
          <p:cNvPr id="5" name="Picture 4" descr="_eq_4628781146245054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558636" cy="23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Inputs and Outputs of the PDE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Inputs: space x and time t; Output: velocity u(x,t).</a:t>
            </a:r>
          </a:p>
          <a:p>
            <a:pPr>
              <a:defRPr sz="2200">
                <a:latin typeface="Calibri"/>
              </a:defRPr>
            </a:pPr>
            <a:r>
              <a:t>We learn f_theta: [x,t] -&gt; u via a small neural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Central Differences on Collocation Points (space &amp; time)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Space: u_x ≈ (u_{i+1}-u_{i-1})/(2Δx),  u_xx ≈ (u_{i+1}-2u_i+u_{i-1})/Δx^2.</a:t>
            </a:r>
          </a:p>
          <a:p>
            <a:pPr>
              <a:defRPr sz="2200">
                <a:latin typeface="Calibri"/>
              </a:defRPr>
            </a:pPr>
            <a:r>
              <a:t>Time: u_t ≈ (u^{n+1}-u^{n-1})/(2Δt).</a:t>
            </a:r>
          </a:p>
          <a:p>
            <a:pPr>
              <a:defRPr sz="2200">
                <a:latin typeface="Calibri"/>
              </a:defRPr>
            </a:pPr>
            <a:r>
              <a:t>Finite differences are linear operators on the sample vector.</a:t>
            </a:r>
          </a:p>
        </p:txBody>
      </p:sp>
      <p:pic>
        <p:nvPicPr>
          <p:cNvPr id="5" name="Picture 4" descr="_eq_7481734196210736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212869" cy="378229"/>
          </a:xfrm>
          <a:prstGeom prst="rect">
            <a:avLst/>
          </a:prstGeom>
        </p:spPr>
      </p:pic>
      <p:pic>
        <p:nvPicPr>
          <p:cNvPr id="6" name="Picture 5" descr="_eq_6271465708456586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1354974" cy="357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What is a Physics‑Informed Neural Network (PINN)?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Loss L = ||u_t + u u_x − nu u_xx||^2 + IC + BC.</a:t>
            </a:r>
          </a:p>
          <a:p>
            <a:pPr>
              <a:defRPr sz="2200">
                <a:latin typeface="Calibri"/>
              </a:defRPr>
            </a:pPr>
            <a:r>
              <a:t>PINN enforces physics via residuals at interior points (mesh‑free).</a:t>
            </a:r>
          </a:p>
        </p:txBody>
      </p:sp>
      <p:pic>
        <p:nvPicPr>
          <p:cNvPr id="5" name="Picture 4" descr="_eq_28398147306427834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253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Network Architecture (2‑16‑16‑1, tanh)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Input: [x,t]; Hidden: 16 tanh -&gt; 16 tanh; Output: u.</a:t>
            </a:r>
          </a:p>
          <a:p>
            <a:pPr>
              <a:defRPr sz="2200">
                <a:latin typeface="Calibri"/>
              </a:defRPr>
            </a:pPr>
            <a:r>
              <a:t>tanh chosen for smooth second derivatives (needed for u_xx).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Manual Linear Layer (explicit matrix multiply)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Replace nn.Linear with explicit y = W x + b to show the linear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def linear_forward(W, b, x):
</a:t>
            </a:r>
            <a:r>
              <a:rPr sz="1600">
                <a:latin typeface="Consolas"/>
              </a:rPr>
              <a:t>    return x @ W.T + b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Activation and its Derivatives (tanh, tanh', tanh'')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We need u_x and u_xx -&gt; tanh provides smooth derivatives.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def tanh(x): return torch.tanh(x)
</a:t>
            </a:r>
            <a:r>
              <a:rPr sz="1600">
                <a:latin typeface="Consolas"/>
              </a:rPr>
              <a:t>def tanh_prime(x):
</a:t>
            </a:r>
            <a:r>
              <a:rPr sz="1600">
                <a:latin typeface="Consolas"/>
              </a:rPr>
              <a:t>    t = torch.tanh(x); return 1 - t*t
</a:t>
            </a:r>
            <a:r>
              <a:rPr sz="1600">
                <a:latin typeface="Consolas"/>
              </a:rPr>
              <a:t>def tanh_double_prime(x):
</a:t>
            </a:r>
            <a:r>
              <a:rPr sz="1600">
                <a:latin typeface="Consolas"/>
              </a:rPr>
              <a:t>    t = torch.tanh(x); return -2*t*(1 - t*t)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Chain Rule as Jacobian Products (concept)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For a1=W1 z, h1=tanh(a1): a1_x = W1[:,x], h1_x = tanh'(a1)*a1_x.</a:t>
            </a:r>
          </a:p>
          <a:p>
            <a:pPr>
              <a:defRPr sz="2200">
                <a:latin typeface="Calibri"/>
              </a:defRPr>
            </a:pPr>
            <a:r>
              <a:t>Propagate x,t derivatives layer by layer to get u_x, u_t, u_xx.</a:t>
            </a:r>
          </a:p>
        </p:txBody>
      </p:sp>
      <p:pic>
        <p:nvPicPr>
          <p:cNvPr id="5" name="Picture 4" descr="_eq_3087887857516362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68432" cy="261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Differentiation through Code (first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Extract d/dx, d/dt from W1 columns; apply tanh' for h1 derivatives.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W1x=W1[:,0:1]; W1t=W1[:,1:2]
</a:t>
            </a:r>
            <a:r>
              <a:rPr sz="1600">
                <a:latin typeface="Consolas"/>
              </a:rPr>
              <a:t>a1 = linear_forward(W1,b1,z0); h1 = tanh(a1)
</a:t>
            </a:r>
            <a:r>
              <a:rPr sz="1600">
                <a:latin typeface="Consolas"/>
              </a:rPr>
              <a:t>a1_x = W1x.T.repeat(z0.size(0),1)   # da1/dx
</a:t>
            </a:r>
            <a:r>
              <a:rPr sz="1600">
                <a:latin typeface="Consolas"/>
              </a:rPr>
              <a:t>a1_t = W1t.T.repeat(z0.size(0),1)   # da1/dt
</a:t>
            </a:r>
            <a:r>
              <a:rPr sz="1600">
                <a:latin typeface="Consolas"/>
              </a:rPr>
              <a:t>h1_x = tanh_prime(a1) * a1_x
</a:t>
            </a:r>
            <a:r>
              <a:rPr sz="1600">
                <a:latin typeface="Consolas"/>
              </a:rPr>
              <a:t>h1_t = tanh_prime(a1) * a1_t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Second Layer &amp; Output Derivatives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Propagate derivatives via chain rule to obtain u_x,u_t,u_xx.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a2 = linear_forward(W2,b2,h1); h2 = tanh(a2)
</a:t>
            </a:r>
            <a:r>
              <a:rPr sz="1600">
                <a:latin typeface="Consolas"/>
              </a:rPr>
              <a:t>a2_x  = h1_x @ W2.T; a2_t  = h1_t @ W2.T
</a:t>
            </a:r>
            <a:r>
              <a:rPr sz="1600">
                <a:latin typeface="Consolas"/>
              </a:rPr>
              <a:t>h2_x  = tanh_prime(a2) * a2_x
</a:t>
            </a:r>
            <a:r>
              <a:rPr sz="1600">
                <a:latin typeface="Consolas"/>
              </a:rPr>
              <a:t>h2_t  = tanh_prime(a2) * a2_t
</a:t>
            </a:r>
            <a:r>
              <a:rPr sz="1600">
                <a:latin typeface="Consolas"/>
              </a:rPr>
              <a:t>u     = linear_forward(W3,b3,h2)
</a:t>
            </a:r>
            <a:r>
              <a:rPr sz="1600">
                <a:latin typeface="Consolas"/>
              </a:rPr>
              <a:t>u_x   = h2_x @ W3.T
</a:t>
            </a:r>
            <a:r>
              <a:rPr sz="1600">
                <a:latin typeface="Consolas"/>
              </a:rPr>
              <a:t>u_t   = h2_t @ W3.T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Physics Residual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R = u_t + u*u_x − nu*u_xx at interior points; minimize ||R||^2.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def burgers_residual(u,u_x,u_t,u_xx,nu):
</a:t>
            </a:r>
            <a:r>
              <a:rPr sz="1600">
                <a:latin typeface="Consolas"/>
              </a:rPr>
              <a:t>    return u_t + u*u_x - nu*u_xx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Loss Terms: Physics + IC + BC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Total loss combines physics residual with boundary and initial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loss = (res**2).mean() \
</a:t>
            </a:r>
            <a:r>
              <a:rPr sz="1600">
                <a:latin typeface="Consolas"/>
              </a:rPr>
              <a:t>  + ((u0 - u_ic)**2).mean() \
</a:t>
            </a:r>
            <a:r>
              <a:rPr sz="1600">
                <a:latin typeface="Consolas"/>
              </a:rPr>
              <a:t>  + ((uL)**2).mean() + ((uR)**2).mean()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Gradient Descent vs Newton (weight optimization)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GD: theta &lt;- theta - eta * grad L (first‑order, robust, small steps).</a:t>
            </a:r>
          </a:p>
          <a:p>
            <a:pPr>
              <a:defRPr sz="2200">
                <a:latin typeface="Calibri"/>
              </a:defRPr>
            </a:pPr>
            <a:r>
              <a:t>Newton: theta &lt;- theta - H^{-1} grad L (second‑order, fast near minima; costly, sensitive).</a:t>
            </a:r>
          </a:p>
          <a:p>
            <a:pPr>
              <a:defRPr sz="2200">
                <a:latin typeface="Calibri"/>
              </a:defRPr>
            </a:pPr>
            <a:r>
              <a:t>Adam/L‑BFGS approximate Newton efficiently.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# Gradient Descent step (manual)
</a:t>
            </a:r>
            <a:r>
              <a:rPr sz="1600">
                <a:latin typeface="Consolas"/>
              </a:rPr>
              <a:t>for p in params:
</a:t>
            </a:r>
            <a:r>
              <a:rPr sz="1600">
                <a:latin typeface="Consolas"/>
              </a:rPr>
              <a:t>    p.data -= lr * p.grad
</a:t>
            </a:r>
            <a:r>
              <a:rPr sz="1600">
                <a:latin typeface="Consolas"/>
              </a:rPr>
              <a:t>    p.grad.zero_()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Sampling Collocation, IC, and BC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Random interior points for physics; uniform grids for IC/BC.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x_f = torch.rand(N_f,1)*2 - 1; t_f = torch.rand(N_f,1)
</a:t>
            </a:r>
            <a:r>
              <a:rPr sz="1600">
                <a:latin typeface="Consolas"/>
              </a:rPr>
              <a:t>x_ic = torch.linspace(-1,1,N_ic).reshape(-1,1); t_ic = torch.zeros_like(x_ic)
</a:t>
            </a:r>
            <a:r>
              <a:rPr sz="1600">
                <a:latin typeface="Consolas"/>
              </a:rPr>
              <a:t>t_bc = torch.linspace(0,1,N_bc).reshape(-1,1)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Training Loop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Forward -&gt; residuals -&gt; loss -&gt; backprop -&gt; update; repeat.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463040"/>
            <a:ext cx="301752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latin typeface="Consolas"/>
              </a:rPr>
              <a:t>for ep in range(E):
</a:t>
            </a:r>
            <a:r>
              <a:rPr sz="1600">
                <a:latin typeface="Consolas"/>
              </a:rPr>
              <a:t>    u,u_x,u_t,u_xx = model.forward_with_derivatives(x_f,t_f)
</a:t>
            </a:r>
            <a:r>
              <a:rPr sz="1600">
                <a:latin typeface="Consolas"/>
              </a:rPr>
              <a:t>    res = burgers_residual(u,u_x,u_t,u_xx,nu)
</a:t>
            </a:r>
            <a:r>
              <a:rPr sz="1600">
                <a:latin typeface="Consolas"/>
              </a:rPr>
              <a:t>    loss = (res**2).mean() + loss_ic + loss_bc
</a:t>
            </a:r>
            <a:r>
              <a:rPr sz="1600">
                <a:latin typeface="Consolas"/>
              </a:rPr>
              <a:t>    loss.backward()
</a:t>
            </a:r>
            <a:r>
              <a:rPr sz="1600">
                <a:latin typeface="Consolas"/>
              </a:rPr>
              <a:t>    sgd_step(model.parameters(), lr)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Observing Convergence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Loss vs epoch decreases; physics residuals shrink across domain.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Results: u(x,t) Slices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Curves at t in {0,0.25,0.5,0.75,1.0}; diffusion smooths; advection steepens.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Regular NN vs PINN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Regular NN: data‑only; needs many samples; no physics guarantee.</a:t>
            </a:r>
          </a:p>
          <a:p>
            <a:pPr>
              <a:defRPr sz="2200">
                <a:latin typeface="Calibri"/>
              </a:defRPr>
            </a:pPr>
            <a:r>
              <a:t>PINN: data + physics; fewer points; PDE‑consistent.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Numerical Issues &amp; Conditioning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Derivative scale mismatch; stiffness; lr sensitivity.</a:t>
            </a:r>
          </a:p>
          <a:p>
            <a:pPr>
              <a:defRPr sz="2200">
                <a:latin typeface="Calibri"/>
              </a:defRPr>
            </a:pPr>
            <a:r>
              <a:t>Normalize; adaptive sampling; optimizer choice.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Where Linear Algebra Appears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Layer mapping -&gt; matrix multiplication.</a:t>
            </a:r>
          </a:p>
          <a:p>
            <a:pPr>
              <a:defRPr sz="2200">
                <a:latin typeface="Calibri"/>
              </a:defRPr>
            </a:pPr>
            <a:r>
              <a:t>Backprop -&gt; Jacobian products.</a:t>
            </a:r>
          </a:p>
          <a:p>
            <a:pPr>
              <a:defRPr sz="2200">
                <a:latin typeface="Calibri"/>
              </a:defRPr>
            </a:pPr>
            <a:r>
              <a:t>Loss -&gt; quadratic forms.</a:t>
            </a:r>
          </a:p>
          <a:p>
            <a:pPr>
              <a:defRPr sz="2200">
                <a:latin typeface="Calibri"/>
              </a:defRPr>
            </a:pPr>
            <a:r>
              <a:t>Optimization -&gt; iterative linear solvers.</a:t>
            </a:r>
          </a:p>
          <a:p>
            <a:pPr>
              <a:defRPr sz="2200">
                <a:latin typeface="Calibri"/>
              </a:defRPr>
            </a:pPr>
            <a:r>
              <a:t>PDE terms -&gt; linear differential operators.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latin typeface="Calibri"/>
              </a:defRPr>
            </a:pPr>
            <a:r>
              <a:t>Linear Algebra is the engine of ML &amp; PINNs.</a:t>
            </a:r>
          </a:p>
          <a:p>
            <a:pPr>
              <a:defRPr sz="2200">
                <a:latin typeface="Calibri"/>
              </a:defRPr>
            </a:pPr>
            <a:r>
              <a:t>PINNs embed physics via residuals; fewer data, more structure.</a:t>
            </a:r>
          </a:p>
          <a:p>
            <a:pPr>
              <a:defRPr sz="2200">
                <a:latin typeface="Calibri"/>
              </a:defRPr>
            </a:pPr>
            <a:r>
              <a:t>You now have a working PINN for Burgers built from LA primitives.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BB8B3CE3E108409123D63CCE7A93B0" ma:contentTypeVersion="12" ma:contentTypeDescription="Create a new document." ma:contentTypeScope="" ma:versionID="5ea2e55c85b914efdaeadeb4ee9ac9e8">
  <xsd:schema xmlns:xsd="http://www.w3.org/2001/XMLSchema" xmlns:xs="http://www.w3.org/2001/XMLSchema" xmlns:p="http://schemas.microsoft.com/office/2006/metadata/properties" xmlns:ns2="489182aa-9dab-424a-8d56-7f6fb0ab2017" xmlns:ns3="593dd618-ef88-44e9-9ecb-0cd6bb7a07da" targetNamespace="http://schemas.microsoft.com/office/2006/metadata/properties" ma:root="true" ma:fieldsID="088a0a65c1f9cfdb40804bdb6e1e0d06" ns2:_="" ns3:_="">
    <xsd:import namespace="489182aa-9dab-424a-8d56-7f6fb0ab2017"/>
    <xsd:import namespace="593dd618-ef88-44e9-9ecb-0cd6bb7a07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182aa-9dab-424a-8d56-7f6fb0ab2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f2828eb-5cbf-48e4-bd3a-96b67d0420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dd618-ef88-44e9-9ecb-0cd6bb7a07d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34b69b7-a9fe-45ba-8c24-3a1ddcda4151}" ma:internalName="TaxCatchAll" ma:showField="CatchAllData" ma:web="593dd618-ef88-44e9-9ecb-0cd6bb7a07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3dd618-ef88-44e9-9ecb-0cd6bb7a07da" xsi:nil="true"/>
    <lcf76f155ced4ddcb4097134ff3c332f xmlns="489182aa-9dab-424a-8d56-7f6fb0ab20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4B26CC-285E-4549-BF0B-8BE6D2F3F4A5}"/>
</file>

<file path=customXml/itemProps2.xml><?xml version="1.0" encoding="utf-8"?>
<ds:datastoreItem xmlns:ds="http://schemas.openxmlformats.org/officeDocument/2006/customXml" ds:itemID="{2435AE8E-DFC0-41C2-B578-347A35FC73EB}"/>
</file>

<file path=customXml/itemProps3.xml><?xml version="1.0" encoding="utf-8"?>
<ds:datastoreItem xmlns:ds="http://schemas.openxmlformats.org/officeDocument/2006/customXml" ds:itemID="{460CDDB4-E5D0-4972-BEBF-FC7064C4EA4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0x010100A6BB8B3CE3E108409123D63CCE7A93B0</vt:lpwstr>
  </property>
</Properties>
</file>